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965960"/>
          </a:xfrm>
          <a:prstGeom prst="rect">
            <a:avLst/>
          </a:prstGeom>
          <a:solidFill>
            <a:srgbClr val="0E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2EEE6"/>
                </a:solidFill>
                <a:latin typeface="Georgia"/>
              </a:rPr>
              <a:t>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2EEE6"/>
                </a:solidFill>
                <a:latin typeface="Georgia"/>
              </a:rPr>
              <a:t>A simple formula for prompting.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C8C4BB"/>
                </a:solidFill>
                <a:latin typeface="Segoe UI"/>
              </a:rPr>
              <a:t>You'll see a lot of posts online that talk about the "perfect prompt." Forget those. You don't need that. What you need is a "good enough prompt" that focuses exactly on what YOU need. Here's a framework I put together that you can use while prompting.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C8C4BB"/>
                </a:solidFill>
                <a:latin typeface="Segoe UI"/>
              </a:rPr>
              <a:t>BY FERNANDO DE VEGA · AI IN THE PARK</a:t>
            </a:r>
            <a:r>
              <a:rPr sz="1000" b="0" i="0">
                <a:solidFill>
                  <a:srgbClr val="1A1A1A"/>
                </a:solidFill>
                <a:latin typeface="Segoe UI"/>
              </a:rPr>
              <a:t>     </a:t>
            </a:r>
            <a:r>
              <a:rPr sz="700" b="1" i="0">
                <a:solidFill>
                  <a:srgbClr val="A78BFA"/>
                </a:solidFill>
                <a:latin typeface="Segoe UI"/>
              </a:rPr>
              <a:t>ai-in-the-park.vercel.app 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451860" cy="23317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34518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322576"/>
            <a:ext cx="31592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7C3AED"/>
                </a:solidFill>
                <a:latin typeface="Georgia"/>
              </a:rPr>
              <a:t>F</a:t>
            </a:r>
            <a:r>
              <a:rPr sz="1800" b="1" i="0">
                <a:solidFill>
                  <a:srgbClr val="1A1A1A"/>
                </a:solidFill>
                <a:latin typeface="Georgia"/>
              </a:rPr>
              <a:t>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8"/>
            <a:ext cx="31592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C5A54"/>
                </a:solidFill>
                <a:latin typeface="Segoe UI"/>
              </a:rPr>
              <a:t>Set the role and the situation. What role is AI playing? What's the context?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127248"/>
            <a:ext cx="3159252" cy="658368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3127248"/>
            <a:ext cx="27432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16382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7C3AED"/>
                </a:solidFill>
                <a:latin typeface="Segoe UI"/>
              </a:rPr>
              <a:t>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328416"/>
            <a:ext cx="3049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You are a senior instructional designer.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You are a UX writer helping me sharpen microcopy for a mobile onboarding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858768"/>
            <a:ext cx="3159252" cy="566928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3858768"/>
            <a:ext cx="27432" cy="5669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89534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B45309"/>
                </a:solidFill>
                <a:latin typeface="Segoe UI"/>
              </a:rPr>
              <a:t>⚠ COMMON MISTAKE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4059936"/>
            <a:ext cx="30495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Flattering framing ("the best in the world at...") that pushes AI into generic authority voice.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4780" y="2194560"/>
            <a:ext cx="3451860" cy="23317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54780" y="2194560"/>
            <a:ext cx="34518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1084" y="2322576"/>
            <a:ext cx="31592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D4ED8"/>
                </a:solidFill>
                <a:latin typeface="Georgia"/>
              </a:rPr>
              <a:t>A</a:t>
            </a:r>
            <a:r>
              <a:rPr sz="1800" b="1" i="0">
                <a:solidFill>
                  <a:srgbClr val="1A1A1A"/>
                </a:solidFill>
                <a:latin typeface="Georgia"/>
              </a:rPr>
              <a:t>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1084" y="2761488"/>
            <a:ext cx="31592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C5A54"/>
                </a:solidFill>
                <a:latin typeface="Segoe UI"/>
              </a:rPr>
              <a:t>The actual request. A single sentence with one action verb.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01084" y="3127248"/>
            <a:ext cx="3159252" cy="658368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01084" y="3127248"/>
            <a:ext cx="27432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92524" y="316382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D4ED8"/>
                </a:solidFill>
                <a:latin typeface="Segoe UI"/>
              </a:rPr>
              <a:t>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2524" y="3328416"/>
            <a:ext cx="3049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Draft a module-by-module outline for a training program.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Rewrite these three module titles so they're parallel.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1084" y="3858768"/>
            <a:ext cx="3159252" cy="566928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01084" y="3858768"/>
            <a:ext cx="27432" cy="5669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2524" y="389534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B45309"/>
                </a:solidFill>
                <a:latin typeface="Segoe UI"/>
              </a:rPr>
              <a:t>⚠ COMMON MISTAKE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2524" y="4059936"/>
            <a:ext cx="30495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Stacking Asks — "draft AND write AND suggest." Do them in three separate prompts.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63440"/>
            <a:ext cx="3451860" cy="23317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663440"/>
            <a:ext cx="3451860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4791456"/>
            <a:ext cx="31592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91C1C"/>
                </a:solidFill>
                <a:latin typeface="Georgia"/>
              </a:rPr>
              <a:t>S</a:t>
            </a:r>
            <a:r>
              <a:rPr sz="1800" b="1" i="0">
                <a:solidFill>
                  <a:srgbClr val="1A1A1A"/>
                </a:solidFill>
                <a:latin typeface="Georgia"/>
              </a:rPr>
              <a:t>hape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230368"/>
            <a:ext cx="31592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C5A54"/>
                </a:solidFill>
                <a:latin typeface="Segoe UI"/>
              </a:rPr>
              <a:t>Constraints, format, scope. Strong Shape sections always include explicit Don'ts.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5596128"/>
            <a:ext cx="3159252" cy="658368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" y="5596128"/>
            <a:ext cx="2743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563270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B91C1C"/>
                </a:solidFill>
                <a:latin typeface="Segoe UI"/>
              </a:rPr>
              <a:t>EXAMPLES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5797296"/>
            <a:ext cx="3049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4 to 6 modules. Each needs an outcome with a Bloom-level verb. Don't pad with filler.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Under 15 words per line. No jargon. No exclamation marks.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6327648"/>
            <a:ext cx="3159252" cy="566928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" y="6327648"/>
            <a:ext cx="27432" cy="5669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636422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B45309"/>
                </a:solidFill>
                <a:latin typeface="Segoe UI"/>
              </a:rPr>
              <a:t>⚠ COMMON MISTAKE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6528816"/>
            <a:ext cx="30495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Skipping the Don'ts. AI pads by default — you have to actively subtract.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4780" y="4663440"/>
            <a:ext cx="3451860" cy="23317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54780" y="4663440"/>
            <a:ext cx="34518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01084" y="4791456"/>
            <a:ext cx="31592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47857"/>
                </a:solidFill>
                <a:latin typeface="Georgia"/>
              </a:rPr>
              <a:t>T</a:t>
            </a:r>
            <a:r>
              <a:rPr sz="1800" b="1" i="0">
                <a:solidFill>
                  <a:srgbClr val="1A1A1A"/>
                </a:solidFill>
                <a:latin typeface="Georgia"/>
              </a:rPr>
              <a:t>une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1084" y="5230368"/>
            <a:ext cx="31592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C5A54"/>
                </a:solidFill>
                <a:latin typeface="Segoe UI"/>
              </a:rPr>
              <a:t>Tells AI to push back, flag assumptions, or disagree with you.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01084" y="5596128"/>
            <a:ext cx="3159252" cy="658368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01084" y="5596128"/>
            <a:ext cx="27432" cy="65836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92524" y="563270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047857"/>
                </a:solidFill>
                <a:latin typeface="Segoe UI"/>
              </a:rPr>
              <a:t>EXAMPLES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2524" y="5797296"/>
            <a:ext cx="3049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State your assumptions, and ask any clarifying questions.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› Before drafting, tell me anything you'd push back 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01084" y="6327648"/>
            <a:ext cx="3159252" cy="566928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01084" y="6327648"/>
            <a:ext cx="27432" cy="5669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2524" y="6364224"/>
            <a:ext cx="3049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B45309"/>
                </a:solidFill>
                <a:latin typeface="Segoe UI"/>
              </a:rPr>
              <a:t>⚠ COMMON MISTAKE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92524" y="6528816"/>
            <a:ext cx="30495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Treating the first output as final. Tune turns generation into a conversation.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7132320"/>
            <a:ext cx="7040880" cy="1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72420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047857"/>
                </a:solidFill>
                <a:latin typeface="Segoe UI"/>
              </a:rPr>
              <a:t>BEFORE YOU HIT SEND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7406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Georgia"/>
              </a:rPr>
              <a:t>The 10-second check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7790688"/>
            <a:ext cx="1691640" cy="9601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7790688"/>
            <a:ext cx="1691640" cy="41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7872984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47857"/>
                </a:solidFill>
                <a:latin typeface="Georgia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" y="806500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1A1A1A"/>
                </a:solidFill>
                <a:latin typeface="Segoe UI"/>
              </a:rPr>
              <a:t>Did I frame with a real role?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8412480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C5A54"/>
                </a:solidFill>
                <a:latin typeface="Segoe UI"/>
              </a:rPr>
              <a:t>Not "you are an expert." A real role with real constraints.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7790688"/>
            <a:ext cx="1691640" cy="9601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48840" y="7790688"/>
            <a:ext cx="1691640" cy="41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58568" y="7872984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47857"/>
                </a:solidFill>
                <a:latin typeface="Georgia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58568" y="806500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1A1A1A"/>
                </a:solidFill>
                <a:latin typeface="Segoe UI"/>
              </a:rPr>
              <a:t>Is my ask one sentence, one verb?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58568" y="8412480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C5A54"/>
                </a:solidFill>
                <a:latin typeface="Segoe UI"/>
              </a:rPr>
              <a:t>If it needs a semicolon or an "AND," split it into two prompts.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7790688"/>
            <a:ext cx="1691640" cy="9601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31920" y="7790688"/>
            <a:ext cx="1691640" cy="41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41648" y="7872984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47857"/>
                </a:solidFill>
                <a:latin typeface="Georgia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41648" y="806500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1A1A1A"/>
                </a:solidFill>
                <a:latin typeface="Segoe UI"/>
              </a:rPr>
              <a:t>Did I include explicit Don'ts?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1648" y="8412480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C5A54"/>
                </a:solidFill>
                <a:latin typeface="Segoe UI"/>
              </a:rPr>
              <a:t>AI pads by default. Name the filler you don't want.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15000" y="7790688"/>
            <a:ext cx="1691640" cy="960120"/>
          </a:xfrm>
          <a:prstGeom prst="rect">
            <a:avLst/>
          </a:prstGeom>
          <a:solidFill>
            <a:srgbClr val="FDFAF1"/>
          </a:solidFill>
          <a:ln w="6350">
            <a:solidFill>
              <a:srgbClr val="D5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715000" y="7790688"/>
            <a:ext cx="1691640" cy="41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24728" y="7872984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47857"/>
                </a:solidFill>
                <a:latin typeface="Georgia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24728" y="806500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1A1A1A"/>
                </a:solidFill>
                <a:latin typeface="Segoe UI"/>
              </a:rPr>
              <a:t>Did I tell it to push back first?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24728" y="8412480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C5A54"/>
                </a:solidFill>
                <a:latin typeface="Segoe UI"/>
              </a:rPr>
              <a:t>State assumptions. Ask questions. Most people skip this.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8823960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A1A1A"/>
                </a:solidFill>
                <a:latin typeface="Georgia"/>
              </a:rPr>
              <a:t>If any answer is no — fix that move first, before hitting send.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9144000"/>
            <a:ext cx="7040880" cy="9000"/>
          </a:xfrm>
          <a:prstGeom prst="rect">
            <a:avLst/>
          </a:prstGeom>
          <a:solidFill>
            <a:srgbClr val="D5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Fe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08592"/>
            <a:ext cx="822960" cy="8229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325880" y="9308592"/>
            <a:ext cx="6080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1A1A1A"/>
                </a:solidFill>
                <a:latin typeface="Segoe UI"/>
              </a:rPr>
              <a:t>I'm </a:t>
            </a:r>
            <a:r>
              <a:rPr sz="850" b="1" i="0">
                <a:solidFill>
                  <a:srgbClr val="1A1A1A"/>
                </a:solidFill>
                <a:latin typeface="Segoe UI"/>
              </a:rPr>
              <a:t>Fer</a:t>
            </a:r>
            <a:r>
              <a:rPr sz="850" b="0" i="0">
                <a:solidFill>
                  <a:srgbClr val="1A1A1A"/>
                </a:solidFill>
                <a:latin typeface="Segoe UI"/>
              </a:rPr>
              <a:t>. Argentinian, living in New York for the last five years, walking around Central Park with my dog Pericles most mornings. I've been an instructional designer for 15+ years. I've built things that worked and things that absolutely did not.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25880" y="9857232"/>
            <a:ext cx="6080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C3AED"/>
                </a:solidFill>
                <a:latin typeface="Georgia"/>
              </a:rPr>
              <a:t>See you in the park.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25880" y="10149840"/>
            <a:ext cx="6080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5C5A54"/>
                </a:solidFill>
                <a:latin typeface="Segoe UI"/>
              </a:rPr>
              <a:t>AI IN THE PARK · AI-IN-THE-PARK.VERCEL.APP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